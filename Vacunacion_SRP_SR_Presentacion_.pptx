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02" r:id="rId2"/>
    <p:sldId id="337" r:id="rId3"/>
    <p:sldId id="338" r:id="rId4"/>
    <p:sldId id="339" r:id="rId5"/>
    <p:sldId id="340" r:id="rId6"/>
    <p:sldId id="341" r:id="rId7"/>
    <p:sldId id="342" r:id="rId8"/>
    <p:sldId id="343" r:id="rId9"/>
    <p:sldId id="344" r:id="rId10"/>
    <p:sldId id="345" r:id="rId11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7F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307" autoAdjust="0"/>
    <p:restoredTop sz="94660"/>
  </p:normalViewPr>
  <p:slideViewPr>
    <p:cSldViewPr snapToGrid="0">
      <p:cViewPr varScale="1">
        <p:scale>
          <a:sx n="80" d="100"/>
          <a:sy n="80" d="100"/>
        </p:scale>
        <p:origin x="3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cia Esparza" userId="65b59e52a21d66fc" providerId="LiveId" clId="{4B490BA7-78B5-4CAD-B78F-DAA853FF0CA1}"/>
    <pc:docChg chg="modSld">
      <pc:chgData name="Alicia Esparza" userId="65b59e52a21d66fc" providerId="LiveId" clId="{4B490BA7-78B5-4CAD-B78F-DAA853FF0CA1}" dt="2026-05-09T22:36:32.958" v="0" actId="20577"/>
      <pc:docMkLst>
        <pc:docMk/>
      </pc:docMkLst>
      <pc:sldChg chg="modSp mod">
        <pc:chgData name="Alicia Esparza" userId="65b59e52a21d66fc" providerId="LiveId" clId="{4B490BA7-78B5-4CAD-B78F-DAA853FF0CA1}" dt="2026-05-09T22:36:32.958" v="0" actId="20577"/>
        <pc:sldMkLst>
          <pc:docMk/>
          <pc:sldMk cId="0" sldId="340"/>
        </pc:sldMkLst>
        <pc:spChg chg="mod">
          <ac:chgData name="Alicia Esparza" userId="65b59e52a21d66fc" providerId="LiveId" clId="{4B490BA7-78B5-4CAD-B78F-DAA853FF0CA1}" dt="2026-05-09T22:36:32.958" v="0" actId="20577"/>
          <ac:spMkLst>
            <pc:docMk/>
            <pc:sldMk cId="0" sldId="340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385812-1B44-4195-8E00-D51777467371}" type="datetimeFigureOut">
              <a:rPr lang="es-MX">
                <a:solidFill>
                  <a:prstClr val="black"/>
                </a:solidFill>
              </a:rPr>
              <a:pPr/>
              <a:t>09/05/2026</a:t>
            </a:fld>
            <a:endParaRPr lang="es-MX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114B41-86E8-4319-B202-ED1FF5477990}" type="slidenum">
              <a:rPr lang="es-MX">
                <a:solidFill>
                  <a:prstClr val="black"/>
                </a:solidFill>
              </a:rPr>
              <a:pPr/>
              <a:t>‹Nº›</a:t>
            </a:fld>
            <a:endParaRPr lang="es-MX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9619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385812-1B44-4195-8E00-D51777467371}" type="datetimeFigureOut">
              <a:rPr lang="es-MX">
                <a:solidFill>
                  <a:prstClr val="black"/>
                </a:solidFill>
              </a:rPr>
              <a:pPr/>
              <a:t>09/05/2026</a:t>
            </a:fld>
            <a:endParaRPr lang="es-MX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114B41-86E8-4319-B202-ED1FF5477990}" type="slidenum">
              <a:rPr lang="es-MX">
                <a:solidFill>
                  <a:prstClr val="black"/>
                </a:solidFill>
              </a:rPr>
              <a:pPr/>
              <a:t>‹Nº›</a:t>
            </a:fld>
            <a:endParaRPr lang="es-MX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9061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385812-1B44-4195-8E00-D51777467371}" type="datetimeFigureOut">
              <a:rPr lang="es-MX">
                <a:solidFill>
                  <a:prstClr val="black"/>
                </a:solidFill>
              </a:rPr>
              <a:pPr/>
              <a:t>09/05/2026</a:t>
            </a:fld>
            <a:endParaRPr lang="es-MX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114B41-86E8-4319-B202-ED1FF5477990}" type="slidenum">
              <a:rPr lang="es-MX">
                <a:solidFill>
                  <a:prstClr val="black"/>
                </a:solidFill>
              </a:rPr>
              <a:pPr/>
              <a:t>‹Nº›</a:t>
            </a:fld>
            <a:endParaRPr lang="es-MX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0482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385812-1B44-4195-8E00-D51777467371}" type="datetimeFigureOut">
              <a:rPr lang="es-MX">
                <a:solidFill>
                  <a:prstClr val="black"/>
                </a:solidFill>
              </a:rPr>
              <a:pPr/>
              <a:t>09/05/2026</a:t>
            </a:fld>
            <a:endParaRPr lang="es-MX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114B41-86E8-4319-B202-ED1FF5477990}" type="slidenum">
              <a:rPr lang="es-MX">
                <a:solidFill>
                  <a:prstClr val="black"/>
                </a:solidFill>
              </a:rPr>
              <a:pPr/>
              <a:t>‹Nº›</a:t>
            </a:fld>
            <a:endParaRPr lang="es-MX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5903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385812-1B44-4195-8E00-D51777467371}" type="datetimeFigureOut">
              <a:rPr lang="es-MX">
                <a:solidFill>
                  <a:prstClr val="black"/>
                </a:solidFill>
              </a:rPr>
              <a:pPr/>
              <a:t>09/05/2026</a:t>
            </a:fld>
            <a:endParaRPr lang="es-MX">
              <a:solidFill>
                <a:prstClr val="black"/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>
              <a:solidFill>
                <a:prstClr val="black"/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114B41-86E8-4319-B202-ED1FF5477990}" type="slidenum">
              <a:rPr lang="es-MX">
                <a:solidFill>
                  <a:prstClr val="black"/>
                </a:solidFill>
              </a:rPr>
              <a:pPr/>
              <a:t>‹Nº›</a:t>
            </a:fld>
            <a:endParaRPr lang="es-MX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0743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385812-1B44-4195-8E00-D51777467371}" type="datetimeFigureOut">
              <a:rPr lang="es-MX">
                <a:solidFill>
                  <a:prstClr val="black"/>
                </a:solidFill>
              </a:rPr>
              <a:pPr/>
              <a:t>09/05/2026</a:t>
            </a:fld>
            <a:endParaRPr lang="es-MX">
              <a:solidFill>
                <a:prstClr val="black"/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>
              <a:solidFill>
                <a:prstClr val="black"/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114B41-86E8-4319-B202-ED1FF5477990}" type="slidenum">
              <a:rPr lang="es-MX">
                <a:solidFill>
                  <a:prstClr val="black"/>
                </a:solidFill>
              </a:rPr>
              <a:pPr/>
              <a:t>‹Nº›</a:t>
            </a:fld>
            <a:endParaRPr lang="es-MX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3600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385812-1B44-4195-8E00-D51777467371}" type="datetimeFigureOut">
              <a:rPr lang="es-MX">
                <a:solidFill>
                  <a:prstClr val="black"/>
                </a:solidFill>
              </a:rPr>
              <a:pPr/>
              <a:t>09/05/2026</a:t>
            </a:fld>
            <a:endParaRPr lang="es-MX">
              <a:solidFill>
                <a:prstClr val="black"/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>
              <a:solidFill>
                <a:prstClr val="black"/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114B41-86E8-4319-B202-ED1FF5477990}" type="slidenum">
              <a:rPr lang="es-MX">
                <a:solidFill>
                  <a:prstClr val="black"/>
                </a:solidFill>
              </a:rPr>
              <a:pPr/>
              <a:t>‹Nº›</a:t>
            </a:fld>
            <a:endParaRPr lang="es-MX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980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385812-1B44-4195-8E00-D51777467371}" type="datetimeFigureOut">
              <a:rPr lang="es-MX">
                <a:solidFill>
                  <a:prstClr val="black"/>
                </a:solidFill>
              </a:rPr>
              <a:pPr/>
              <a:t>09/05/2026</a:t>
            </a:fld>
            <a:endParaRPr lang="es-MX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114B41-86E8-4319-B202-ED1FF5477990}" type="slidenum">
              <a:rPr lang="es-MX">
                <a:solidFill>
                  <a:prstClr val="black"/>
                </a:solidFill>
              </a:rPr>
              <a:pPr/>
              <a:t>‹Nº›</a:t>
            </a:fld>
            <a:endParaRPr lang="es-MX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8140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385812-1B44-4195-8E00-D51777467371}" type="datetimeFigureOut">
              <a:rPr lang="es-MX">
                <a:solidFill>
                  <a:prstClr val="black"/>
                </a:solidFill>
              </a:rPr>
              <a:pPr/>
              <a:t>09/05/2026</a:t>
            </a:fld>
            <a:endParaRPr lang="es-MX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114B41-86E8-4319-B202-ED1FF5477990}" type="slidenum">
              <a:rPr lang="es-MX">
                <a:solidFill>
                  <a:prstClr val="black"/>
                </a:solidFill>
              </a:rPr>
              <a:pPr/>
              <a:t>‹Nº›</a:t>
            </a:fld>
            <a:endParaRPr lang="es-MX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9632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385812-1B44-4195-8E00-D51777467371}" type="datetimeFigureOut">
              <a:rPr lang="es-MX">
                <a:solidFill>
                  <a:prstClr val="black"/>
                </a:solidFill>
              </a:rPr>
              <a:pPr/>
              <a:t>09/05/2026</a:t>
            </a:fld>
            <a:endParaRPr lang="es-MX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114B41-86E8-4319-B202-ED1FF5477990}" type="slidenum">
              <a:rPr lang="es-MX">
                <a:solidFill>
                  <a:prstClr val="black"/>
                </a:solidFill>
              </a:rPr>
              <a:pPr/>
              <a:t>‹Nº›</a:t>
            </a:fld>
            <a:endParaRPr lang="es-MX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667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385812-1B44-4195-8E00-D51777467371}" type="datetimeFigureOut">
              <a:rPr lang="es-MX">
                <a:solidFill>
                  <a:prstClr val="black"/>
                </a:solidFill>
              </a:rPr>
              <a:pPr/>
              <a:t>09/05/2026</a:t>
            </a:fld>
            <a:endParaRPr lang="es-MX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114B41-86E8-4319-B202-ED1FF5477990}" type="slidenum">
              <a:rPr lang="es-MX">
                <a:solidFill>
                  <a:prstClr val="black"/>
                </a:solidFill>
              </a:rPr>
              <a:pPr/>
              <a:t>‹Nº›</a:t>
            </a:fld>
            <a:endParaRPr lang="es-MX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5743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/>
          <p:cNvGrpSpPr/>
          <p:nvPr userDrawn="1"/>
        </p:nvGrpSpPr>
        <p:grpSpPr>
          <a:xfrm>
            <a:off x="0" y="0"/>
            <a:ext cx="12192000" cy="6830291"/>
            <a:chOff x="0" y="36944"/>
            <a:chExt cx="12192000" cy="6830291"/>
          </a:xfrm>
        </p:grpSpPr>
        <p:pic>
          <p:nvPicPr>
            <p:cNvPr id="8" name="Imagen 7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0" y="5923122"/>
              <a:ext cx="3398808" cy="944113"/>
            </a:xfrm>
            <a:prstGeom prst="rect">
              <a:avLst/>
            </a:prstGeom>
          </p:spPr>
        </p:pic>
        <p:pic>
          <p:nvPicPr>
            <p:cNvPr id="9" name="Imagen 8"/>
            <p:cNvPicPr>
              <a:picLocks noChangeAspect="1"/>
            </p:cNvPicPr>
            <p:nvPr/>
          </p:nvPicPr>
          <p:blipFill rotWithShape="1">
            <a:blip r:embed="rId14"/>
            <a:srcRect t="2425" r="9327" b="8683"/>
            <a:stretch>
              <a:fillRect/>
            </a:stretch>
          </p:blipFill>
          <p:spPr>
            <a:xfrm>
              <a:off x="10170543" y="5702060"/>
              <a:ext cx="2021457" cy="1164201"/>
            </a:xfrm>
            <a:prstGeom prst="rect">
              <a:avLst/>
            </a:prstGeom>
          </p:spPr>
        </p:pic>
        <p:pic>
          <p:nvPicPr>
            <p:cNvPr id="10" name="Imagen 9"/>
            <p:cNvPicPr>
              <a:picLocks noChangeAspect="1"/>
            </p:cNvPicPr>
            <p:nvPr/>
          </p:nvPicPr>
          <p:blipFill rotWithShape="1">
            <a:blip r:embed="rId15"/>
            <a:srcRect l="5343" r="9166"/>
            <a:stretch>
              <a:fillRect/>
            </a:stretch>
          </p:blipFill>
          <p:spPr>
            <a:xfrm>
              <a:off x="9744360" y="36944"/>
              <a:ext cx="2364510" cy="10574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97158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9F5ED79-44F4-E4D4-CA0C-0D3FE7DF50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8928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B21E074-37EF-7BF8-0A3E-E156025B96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1106" y="114298"/>
            <a:ext cx="1467983" cy="1944085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F01D1F71-8566-3A82-6CC0-920418E90F4D}"/>
              </a:ext>
            </a:extLst>
          </p:cNvPr>
          <p:cNvSpPr/>
          <p:nvPr/>
        </p:nvSpPr>
        <p:spPr>
          <a:xfrm>
            <a:off x="5218579" y="2446298"/>
            <a:ext cx="6049178" cy="1615827"/>
          </a:xfrm>
          <a:prstGeom prst="rect">
            <a:avLst/>
          </a:prstGeom>
          <a:effectLst>
            <a:outerShdw blurRad="50800" dist="25400" dir="10800000" algn="r" rotWithShape="0">
              <a:prstClr val="black">
                <a:alpha val="28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sz="3600" b="1" dirty="0">
                <a:latin typeface="Arial Black"/>
              </a:rPr>
              <a:t>DIRECTRICES DE VACUNACIÓN</a:t>
            </a:r>
            <a:endParaRPr lang="es-MX" sz="3600" b="1" spc="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Bef>
                <a:spcPts val="600"/>
              </a:spcBef>
            </a:pPr>
            <a:r>
              <a:rPr sz="2200" b="0" dirty="0">
                <a:latin typeface="Arial"/>
              </a:rPr>
              <a:t>SRP y SR — </a:t>
            </a:r>
            <a:r>
              <a:rPr sz="2200" b="0" dirty="0" err="1">
                <a:latin typeface="Arial"/>
              </a:rPr>
              <a:t>Esquema</a:t>
            </a:r>
            <a:r>
              <a:rPr sz="2200" b="0" dirty="0">
                <a:latin typeface="Arial"/>
              </a:rPr>
              <a:t> </a:t>
            </a:r>
            <a:r>
              <a:rPr sz="2200" b="0" dirty="0" err="1">
                <a:latin typeface="Arial"/>
              </a:rPr>
              <a:t>permanente</a:t>
            </a:r>
            <a:r>
              <a:rPr sz="2200" b="0" dirty="0">
                <a:latin typeface="Arial"/>
              </a:rPr>
              <a:t> y </a:t>
            </a:r>
            <a:r>
              <a:rPr sz="2200" b="0" dirty="0" err="1">
                <a:latin typeface="Arial"/>
              </a:rPr>
              <a:t>en</a:t>
            </a:r>
            <a:r>
              <a:rPr sz="2200" b="0" dirty="0">
                <a:latin typeface="Arial"/>
              </a:rPr>
              <a:t> </a:t>
            </a:r>
            <a:r>
              <a:rPr sz="2200" b="0" dirty="0" err="1">
                <a:latin typeface="Arial"/>
              </a:rPr>
              <a:t>brote</a:t>
            </a:r>
            <a:endParaRPr sz="2200" b="0" dirty="0">
              <a:latin typeface="Arial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1890051-12D8-F5FC-C079-11C9F1E7FCF1}"/>
              </a:ext>
            </a:extLst>
          </p:cNvPr>
          <p:cNvSpPr/>
          <p:nvPr/>
        </p:nvSpPr>
        <p:spPr>
          <a:xfrm rot="10800000">
            <a:off x="4694908" y="4411702"/>
            <a:ext cx="7182196" cy="8728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prstClr val="white"/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F743168-AE1B-1BD3-1B0D-E94B43A6CCD5}"/>
              </a:ext>
            </a:extLst>
          </p:cNvPr>
          <p:cNvSpPr/>
          <p:nvPr/>
        </p:nvSpPr>
        <p:spPr>
          <a:xfrm>
            <a:off x="4943332" y="4498986"/>
            <a:ext cx="6599672" cy="1079783"/>
          </a:xfrm>
          <a:prstGeom prst="rect">
            <a:avLst/>
          </a:prstGeom>
          <a:effectLst>
            <a:outerShdw blurRad="50800" dist="25400" dir="10800000" algn="r" rotWithShape="0">
              <a:prstClr val="black">
                <a:alpha val="28000"/>
              </a:prst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sz="1800" b="1" dirty="0" err="1">
                <a:solidFill>
                  <a:srgbClr val="8B1A2B"/>
                </a:solidFill>
                <a:latin typeface="Arial"/>
              </a:rPr>
              <a:t>Dirección</a:t>
            </a:r>
            <a:r>
              <a:rPr sz="1800" b="1" dirty="0">
                <a:solidFill>
                  <a:srgbClr val="8B1A2B"/>
                </a:solidFill>
                <a:latin typeface="Arial"/>
              </a:rPr>
              <a:t> de </a:t>
            </a:r>
            <a:r>
              <a:rPr sz="1800" b="1" dirty="0" err="1">
                <a:solidFill>
                  <a:srgbClr val="8B1A2B"/>
                </a:solidFill>
                <a:latin typeface="Arial"/>
              </a:rPr>
              <a:t>Salud</a:t>
            </a:r>
            <a:r>
              <a:rPr sz="1800" b="1" dirty="0">
                <a:solidFill>
                  <a:srgbClr val="8B1A2B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8B1A2B"/>
                </a:solidFill>
                <a:latin typeface="Arial"/>
              </a:rPr>
              <a:t>Pública</a:t>
            </a:r>
            <a:endParaRPr sz="1800" b="1" dirty="0">
              <a:solidFill>
                <a:srgbClr val="8B1A2B"/>
              </a:solidFill>
              <a:latin typeface="Arial"/>
            </a:endParaRPr>
          </a:p>
          <a:p>
            <a:pPr algn="l">
              <a:spcBef>
                <a:spcPts val="200"/>
              </a:spcBef>
            </a:pPr>
            <a:r>
              <a:rPr sz="1400" b="0" dirty="0" err="1">
                <a:solidFill>
                  <a:srgbClr val="2C2C2C"/>
                </a:solidFill>
                <a:latin typeface="Arial"/>
              </a:rPr>
              <a:t>Subdirección</a:t>
            </a:r>
            <a:r>
              <a:rPr sz="1400" b="0" dirty="0">
                <a:solidFill>
                  <a:srgbClr val="2C2C2C"/>
                </a:solidFill>
                <a:latin typeface="Arial"/>
              </a:rPr>
              <a:t> de </a:t>
            </a:r>
            <a:r>
              <a:rPr sz="1400" b="0" dirty="0" err="1">
                <a:solidFill>
                  <a:srgbClr val="2C2C2C"/>
                </a:solidFill>
                <a:latin typeface="Arial"/>
              </a:rPr>
              <a:t>Epidemiología</a:t>
            </a:r>
            <a:r>
              <a:rPr sz="1400" b="0" dirty="0">
                <a:solidFill>
                  <a:srgbClr val="2C2C2C"/>
                </a:solidFill>
                <a:latin typeface="Arial"/>
              </a:rPr>
              <a:t> y </a:t>
            </a:r>
            <a:r>
              <a:rPr sz="1400" b="0" dirty="0" err="1">
                <a:solidFill>
                  <a:srgbClr val="2C2C2C"/>
                </a:solidFill>
                <a:latin typeface="Arial"/>
              </a:rPr>
              <a:t>Medicina</a:t>
            </a:r>
            <a:r>
              <a:rPr sz="1400" b="0" dirty="0">
                <a:solidFill>
                  <a:srgbClr val="2C2C2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2C2C2C"/>
                </a:solidFill>
                <a:latin typeface="Arial"/>
              </a:rPr>
              <a:t>Preventiva</a:t>
            </a:r>
            <a:endParaRPr lang="es-419" sz="1400" b="0" dirty="0">
              <a:solidFill>
                <a:srgbClr val="2C2C2C"/>
              </a:solidFill>
              <a:latin typeface="Arial"/>
            </a:endParaRPr>
          </a:p>
          <a:p>
            <a:pPr algn="l">
              <a:spcBef>
                <a:spcPts val="200"/>
              </a:spcBef>
            </a:pPr>
            <a:r>
              <a:rPr lang="es-419" sz="1400" dirty="0">
                <a:solidFill>
                  <a:srgbClr val="2C2C2C"/>
                </a:solidFill>
                <a:latin typeface="Arial"/>
              </a:rPr>
              <a:t>Departamento de Enfermedades Transmisibles</a:t>
            </a:r>
            <a:endParaRPr sz="1400" b="0" dirty="0">
              <a:solidFill>
                <a:srgbClr val="2C2C2C"/>
              </a:solidFill>
              <a:latin typeface="Arial"/>
            </a:endParaRPr>
          </a:p>
          <a:p>
            <a:pPr algn="l">
              <a:spcBef>
                <a:spcPts val="100"/>
              </a:spcBef>
            </a:pPr>
            <a:r>
              <a:rPr sz="1400" b="0" dirty="0" err="1">
                <a:solidFill>
                  <a:srgbClr val="2C2C2C"/>
                </a:solidFill>
                <a:latin typeface="Arial"/>
              </a:rPr>
              <a:t>Programa</a:t>
            </a:r>
            <a:r>
              <a:rPr sz="1400" b="0" dirty="0">
                <a:solidFill>
                  <a:srgbClr val="2C2C2C"/>
                </a:solidFill>
                <a:latin typeface="Arial"/>
              </a:rPr>
              <a:t> de </a:t>
            </a:r>
            <a:r>
              <a:rPr sz="1400" b="0" dirty="0" err="1">
                <a:solidFill>
                  <a:srgbClr val="2C2C2C"/>
                </a:solidFill>
                <a:latin typeface="Arial"/>
              </a:rPr>
              <a:t>Vacunación</a:t>
            </a:r>
            <a:r>
              <a:rPr sz="1400" b="0" dirty="0">
                <a:solidFill>
                  <a:srgbClr val="2C2C2C"/>
                </a:solidFill>
                <a:latin typeface="Arial"/>
              </a:rPr>
              <a:t> Universal 2026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3441D40D-610F-04CF-ED97-65DE1D2689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11" y="114299"/>
            <a:ext cx="4452258" cy="1581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278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00B903E-B3A7-7625-77D1-725B35CEA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31224"/>
            <a:ext cx="12192000" cy="135007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11480" y="320040"/>
            <a:ext cx="164592" cy="914400"/>
          </a:xfrm>
          <a:prstGeom prst="rect">
            <a:avLst/>
          </a:prstGeom>
          <a:solidFill>
            <a:srgbClr val="E84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412480" cy="105156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l"/>
            <a:r>
              <a:rPr sz="3000" b="1">
                <a:solidFill>
                  <a:srgbClr val="8B1A2B"/>
                </a:solidFill>
                <a:latin typeface="Arial Black"/>
              </a:rPr>
              <a:t>Panorama y objetivos</a:t>
            </a:r>
          </a:p>
          <a:p>
            <a:pPr algn="l">
              <a:spcBef>
                <a:spcPts val="200"/>
              </a:spcBef>
            </a:pPr>
            <a:r>
              <a:rPr sz="1600" b="0">
                <a:solidFill>
                  <a:srgbClr val="6B2C60"/>
                </a:solidFill>
                <a:latin typeface="Arial"/>
              </a:rPr>
              <a:t>Programa de Vacunación Universal 2026 — Estado de Durango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577840" cy="59436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c_info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389888"/>
            <a:ext cx="713232" cy="713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98448" y="1463040"/>
            <a:ext cx="4553712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 Black"/>
              </a:rPr>
              <a:t>SITUACIÓN ACTUAL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57400"/>
            <a:ext cx="5577840" cy="2651760"/>
          </a:xfrm>
          <a:prstGeom prst="rect">
            <a:avLst/>
          </a:prstGeom>
          <a:solidFill>
            <a:srgbClr val="FAF3EB"/>
          </a:solidFill>
          <a:ln w="9525">
            <a:solidFill>
              <a:srgbClr val="8B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09728" rtlCol="0" anchor="t"/>
          <a:lstStyle/>
          <a:p>
            <a:pPr algn="l">
              <a:spcBef>
                <a:spcPts val="200"/>
              </a:spcBef>
            </a:pPr>
            <a:r>
              <a:rPr sz="1600">
                <a:solidFill>
                  <a:srgbClr val="2C2C2C"/>
                </a:solidFill>
                <a:latin typeface="Arial"/>
              </a:rPr>
              <a:t>• Resurgimiento del sarampión en México y riesgo de brotes.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2C2C2C"/>
                </a:solidFill>
                <a:latin typeface="Arial"/>
              </a:rPr>
              <a:t>• Meta 2026: mantener eliminación de sarampión, rubéola y SRC.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2C2C2C"/>
                </a:solidFill>
                <a:latin typeface="Arial"/>
              </a:rPr>
              <a:t>• Cobertura ≥95% con biológicos del PVU.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2C2C2C"/>
                </a:solidFill>
                <a:latin typeface="Arial"/>
              </a:rPr>
              <a:t>• Acciones intensivas para cerrar brechas de vacunación.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577840" cy="594360"/>
          </a:xfrm>
          <a:prstGeom prst="rect">
            <a:avLst/>
          </a:prstGeom>
          <a:solidFill>
            <a:srgbClr val="E84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c_shield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1389888"/>
            <a:ext cx="713232" cy="7132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50608" y="1463040"/>
            <a:ext cx="4553712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 Black"/>
              </a:rPr>
              <a:t>OBJETIVO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057400"/>
            <a:ext cx="5577840" cy="2651760"/>
          </a:xfrm>
          <a:prstGeom prst="rect">
            <a:avLst/>
          </a:prstGeom>
          <a:solidFill>
            <a:srgbClr val="FAF3EB"/>
          </a:solidFill>
          <a:ln w="9525">
            <a:solidFill>
              <a:srgbClr val="E84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09728" rtlCol="0" anchor="t"/>
          <a:lstStyle/>
          <a:p>
            <a:pPr algn="l">
              <a:spcBef>
                <a:spcPts val="200"/>
              </a:spcBef>
            </a:pPr>
            <a:r>
              <a:rPr sz="1600">
                <a:solidFill>
                  <a:srgbClr val="2C2C2C"/>
                </a:solidFill>
                <a:latin typeface="Arial"/>
              </a:rPr>
              <a:t>• Fortalecer la cobertura con SRP y SR.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2C2C2C"/>
                </a:solidFill>
                <a:latin typeface="Arial"/>
              </a:rPr>
              <a:t>• Proteger a la población susceptible.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2C2C2C"/>
                </a:solidFill>
                <a:latin typeface="Arial"/>
              </a:rPr>
              <a:t>• Estandarizar técnica, registro y vigilancia de ESAVI.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2C2C2C"/>
                </a:solidFill>
                <a:latin typeface="Arial"/>
              </a:rPr>
              <a:t>• Dar directrices al personal: esquema permanente y en brote.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4846320"/>
            <a:ext cx="100584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r"/>
            <a:r>
              <a:rPr sz="1200" b="0">
                <a:solidFill>
                  <a:srgbClr val="6B2C60"/>
                </a:solidFill>
                <a:latin typeface="Arial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00B903E-B3A7-7625-77D1-725B35CEA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31224"/>
            <a:ext cx="12192000" cy="135007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11480" y="320040"/>
            <a:ext cx="164592" cy="914400"/>
          </a:xfrm>
          <a:prstGeom prst="rect">
            <a:avLst/>
          </a:prstGeom>
          <a:solidFill>
            <a:srgbClr val="E84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412480" cy="105156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l"/>
            <a:r>
              <a:rPr sz="3000" b="1">
                <a:solidFill>
                  <a:srgbClr val="8B1A2B"/>
                </a:solidFill>
                <a:latin typeface="Arial Black"/>
              </a:rPr>
              <a:t>Tipo de vacuna</a:t>
            </a:r>
          </a:p>
          <a:p>
            <a:pPr algn="l">
              <a:spcBef>
                <a:spcPts val="200"/>
              </a:spcBef>
            </a:pPr>
            <a:r>
              <a:rPr sz="1600" b="0">
                <a:solidFill>
                  <a:srgbClr val="6B2C60"/>
                </a:solidFill>
                <a:latin typeface="Arial"/>
              </a:rPr>
              <a:t>Virus vivos atenuados contra sarampión, rubéola y parotiditis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577840" cy="59436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c_vial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389888"/>
            <a:ext cx="713232" cy="713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98448" y="1463040"/>
            <a:ext cx="4553712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 Black"/>
              </a:rPr>
              <a:t>VACUNA SRP (TRIPLE VIRAL)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57400"/>
            <a:ext cx="5577840" cy="2651760"/>
          </a:xfrm>
          <a:prstGeom prst="rect">
            <a:avLst/>
          </a:prstGeom>
          <a:solidFill>
            <a:srgbClr val="FAF3EB"/>
          </a:solidFill>
          <a:ln w="9525">
            <a:solidFill>
              <a:srgbClr val="8B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09728" rtlCol="0" anchor="t"/>
          <a:lstStyle/>
          <a:p>
            <a:pPr algn="l">
              <a:spcBef>
                <a:spcPts val="200"/>
              </a:spcBef>
            </a:pPr>
            <a:r>
              <a:rPr sz="1600" b="1">
                <a:solidFill>
                  <a:srgbClr val="8B1A2B"/>
                </a:solidFill>
                <a:latin typeface="Arial"/>
              </a:rPr>
              <a:t>Antígenos: </a:t>
            </a:r>
            <a:r>
              <a:rPr sz="1600">
                <a:solidFill>
                  <a:srgbClr val="2C2C2C"/>
                </a:solidFill>
                <a:latin typeface="Arial"/>
              </a:rPr>
              <a:t>virus atenuados de sarampión, rubéola y parotiditis.</a:t>
            </a:r>
          </a:p>
          <a:p>
            <a:pPr algn="l">
              <a:spcBef>
                <a:spcPts val="600"/>
              </a:spcBef>
            </a:pPr>
            <a:r>
              <a:rPr sz="1600" b="1">
                <a:solidFill>
                  <a:srgbClr val="8B1A2B"/>
                </a:solidFill>
                <a:latin typeface="Arial"/>
              </a:rPr>
              <a:t>Presentación: </a:t>
            </a:r>
            <a:r>
              <a:rPr sz="1600">
                <a:solidFill>
                  <a:srgbClr val="2C2C2C"/>
                </a:solidFill>
                <a:latin typeface="Arial"/>
              </a:rPr>
              <a:t>liofilizada, reconstituir antes de aplicar.</a:t>
            </a:r>
          </a:p>
          <a:p>
            <a:pPr algn="l">
              <a:spcBef>
                <a:spcPts val="600"/>
              </a:spcBef>
            </a:pPr>
            <a:r>
              <a:rPr sz="1600" b="1">
                <a:solidFill>
                  <a:srgbClr val="8B1A2B"/>
                </a:solidFill>
                <a:latin typeface="Arial"/>
              </a:rPr>
              <a:t>Vigencia: </a:t>
            </a:r>
            <a:r>
              <a:rPr sz="1600">
                <a:solidFill>
                  <a:srgbClr val="2C2C2C"/>
                </a:solidFill>
                <a:latin typeface="Arial"/>
              </a:rPr>
              <a:t>6 h después de reconstituida o al finalizar jornada.</a:t>
            </a:r>
          </a:p>
          <a:p>
            <a:pPr algn="l">
              <a:spcBef>
                <a:spcPts val="600"/>
              </a:spcBef>
            </a:pPr>
            <a:r>
              <a:rPr sz="1600" b="1">
                <a:solidFill>
                  <a:srgbClr val="8B1A2B"/>
                </a:solidFill>
                <a:latin typeface="Arial"/>
              </a:rPr>
              <a:t>Cadena de frío: </a:t>
            </a:r>
            <a:r>
              <a:rPr sz="1600">
                <a:solidFill>
                  <a:srgbClr val="2C2C2C"/>
                </a:solidFill>
                <a:latin typeface="Arial"/>
              </a:rPr>
              <a:t>+2 °C a +8 °C, proteger de la luz.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577840" cy="594360"/>
          </a:xfrm>
          <a:prstGeom prst="rect">
            <a:avLst/>
          </a:prstGeom>
          <a:solidFill>
            <a:srgbClr val="6B2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c_vial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1389888"/>
            <a:ext cx="713232" cy="7132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50608" y="1463040"/>
            <a:ext cx="4553712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 Black"/>
              </a:rPr>
              <a:t>VACUNA SR (DOBLE VIRAL)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057400"/>
            <a:ext cx="5577840" cy="2651760"/>
          </a:xfrm>
          <a:prstGeom prst="rect">
            <a:avLst/>
          </a:prstGeom>
          <a:solidFill>
            <a:srgbClr val="FAF3EB"/>
          </a:solidFill>
          <a:ln w="9525">
            <a:solidFill>
              <a:srgbClr val="6B2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09728" rtlCol="0" anchor="t"/>
          <a:lstStyle/>
          <a:p>
            <a:pPr algn="l">
              <a:spcBef>
                <a:spcPts val="200"/>
              </a:spcBef>
            </a:pPr>
            <a:r>
              <a:rPr sz="1600" b="1">
                <a:solidFill>
                  <a:srgbClr val="6B2C60"/>
                </a:solidFill>
                <a:latin typeface="Arial"/>
              </a:rPr>
              <a:t>Antígenos: </a:t>
            </a:r>
            <a:r>
              <a:rPr sz="1600">
                <a:solidFill>
                  <a:srgbClr val="2C2C2C"/>
                </a:solidFill>
                <a:latin typeface="Arial"/>
              </a:rPr>
              <a:t>virus atenuados de sarampión y rubéola.</a:t>
            </a:r>
          </a:p>
          <a:p>
            <a:pPr algn="l">
              <a:spcBef>
                <a:spcPts val="600"/>
              </a:spcBef>
            </a:pPr>
            <a:r>
              <a:rPr sz="1600" b="1">
                <a:solidFill>
                  <a:srgbClr val="6B2C60"/>
                </a:solidFill>
                <a:latin typeface="Arial"/>
              </a:rPr>
              <a:t>Presentación: </a:t>
            </a:r>
            <a:r>
              <a:rPr sz="1600">
                <a:solidFill>
                  <a:srgbClr val="2C2C2C"/>
                </a:solidFill>
                <a:latin typeface="Arial"/>
              </a:rPr>
              <a:t>liofilizada, frasco multidosis.</a:t>
            </a:r>
          </a:p>
          <a:p>
            <a:pPr algn="l">
              <a:spcBef>
                <a:spcPts val="600"/>
              </a:spcBef>
            </a:pPr>
            <a:r>
              <a:rPr sz="1600" b="1">
                <a:solidFill>
                  <a:srgbClr val="6B2C60"/>
                </a:solidFill>
                <a:latin typeface="Arial"/>
              </a:rPr>
              <a:t>Vigencia: </a:t>
            </a:r>
            <a:r>
              <a:rPr sz="1600">
                <a:solidFill>
                  <a:srgbClr val="2C2C2C"/>
                </a:solidFill>
                <a:latin typeface="Arial"/>
              </a:rPr>
              <a:t>6 h tras reconstituir o al terminar la jornada.</a:t>
            </a:r>
          </a:p>
          <a:p>
            <a:pPr algn="l">
              <a:spcBef>
                <a:spcPts val="600"/>
              </a:spcBef>
            </a:pPr>
            <a:r>
              <a:rPr sz="1600" b="1">
                <a:solidFill>
                  <a:srgbClr val="6B2C60"/>
                </a:solidFill>
                <a:latin typeface="Arial"/>
              </a:rPr>
              <a:t>Uso: </a:t>
            </a:r>
            <a:r>
              <a:rPr sz="1600">
                <a:solidFill>
                  <a:srgbClr val="2C2C2C"/>
                </a:solidFill>
                <a:latin typeface="Arial"/>
              </a:rPr>
              <a:t>adolescentes, adultos y refuerzos en brote.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4846320"/>
            <a:ext cx="100584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r"/>
            <a:r>
              <a:rPr sz="1200" b="0">
                <a:solidFill>
                  <a:srgbClr val="6B2C60"/>
                </a:solidFill>
                <a:latin typeface="Arial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00B903E-B3A7-7625-77D1-725B35CEA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31224"/>
            <a:ext cx="12192000" cy="135007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11480" y="320040"/>
            <a:ext cx="164592" cy="914400"/>
          </a:xfrm>
          <a:prstGeom prst="rect">
            <a:avLst/>
          </a:prstGeom>
          <a:solidFill>
            <a:srgbClr val="E84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412480" cy="105156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l"/>
            <a:r>
              <a:rPr sz="3000" b="1">
                <a:solidFill>
                  <a:srgbClr val="8B1A2B"/>
                </a:solidFill>
                <a:latin typeface="Arial Black"/>
              </a:rPr>
              <a:t>Esquema de vacunación permanente</a:t>
            </a:r>
          </a:p>
          <a:p>
            <a:pPr algn="l">
              <a:spcBef>
                <a:spcPts val="200"/>
              </a:spcBef>
            </a:pPr>
            <a:r>
              <a:rPr sz="1600" b="0">
                <a:solidFill>
                  <a:srgbClr val="6B2C60"/>
                </a:solidFill>
                <a:latin typeface="Arial"/>
              </a:rPr>
              <a:t>PVU 2026 — Línea de vida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577840" cy="59436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c_calendar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389888"/>
            <a:ext cx="713232" cy="713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98448" y="1463040"/>
            <a:ext cx="4553712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 Black"/>
              </a:rPr>
              <a:t>NIÑAS Y NIÑOS (SRP)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57400"/>
            <a:ext cx="5577840" cy="2651760"/>
          </a:xfrm>
          <a:prstGeom prst="rect">
            <a:avLst/>
          </a:prstGeom>
          <a:solidFill>
            <a:srgbClr val="FAF3EB"/>
          </a:solidFill>
          <a:ln w="9525">
            <a:solidFill>
              <a:srgbClr val="8B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09728" rtlCol="0" anchor="t"/>
          <a:lstStyle/>
          <a:p>
            <a:pPr algn="l">
              <a:spcBef>
                <a:spcPts val="200"/>
              </a:spcBef>
            </a:pPr>
            <a:r>
              <a:rPr sz="1600" b="1">
                <a:solidFill>
                  <a:srgbClr val="8B1A2B"/>
                </a:solidFill>
                <a:latin typeface="Arial"/>
              </a:rPr>
              <a:t>12 meses: </a:t>
            </a:r>
            <a:r>
              <a:rPr sz="1600">
                <a:solidFill>
                  <a:srgbClr val="2C2C2C"/>
                </a:solidFill>
                <a:latin typeface="Arial"/>
              </a:rPr>
              <a:t>1.ª dosis de SRP.</a:t>
            </a:r>
          </a:p>
          <a:p>
            <a:pPr algn="l">
              <a:spcBef>
                <a:spcPts val="600"/>
              </a:spcBef>
            </a:pPr>
            <a:r>
              <a:rPr sz="1600" b="1">
                <a:solidFill>
                  <a:srgbClr val="8B1A2B"/>
                </a:solidFill>
                <a:latin typeface="Arial"/>
              </a:rPr>
              <a:t>18 meses: </a:t>
            </a:r>
            <a:r>
              <a:rPr sz="1600">
                <a:solidFill>
                  <a:srgbClr val="2C2C2C"/>
                </a:solidFill>
                <a:latin typeface="Arial"/>
              </a:rPr>
              <a:t>2.ª dosis (nacidos desde jul-2020).</a:t>
            </a:r>
          </a:p>
          <a:p>
            <a:pPr algn="l">
              <a:spcBef>
                <a:spcPts val="600"/>
              </a:spcBef>
            </a:pPr>
            <a:r>
              <a:rPr sz="1600" b="1">
                <a:solidFill>
                  <a:srgbClr val="8B1A2B"/>
                </a:solidFill>
                <a:latin typeface="Arial"/>
              </a:rPr>
              <a:t>6 años: </a:t>
            </a:r>
            <a:r>
              <a:rPr sz="1600">
                <a:solidFill>
                  <a:srgbClr val="2C2C2C"/>
                </a:solidFill>
                <a:latin typeface="Arial"/>
              </a:rPr>
              <a:t>2.ª dosis (nacidos antes de jul-2020).</a:t>
            </a:r>
          </a:p>
          <a:p>
            <a:pPr algn="l">
              <a:spcBef>
                <a:spcPts val="600"/>
              </a:spcBef>
            </a:pPr>
            <a:r>
              <a:rPr sz="1600" b="1">
                <a:solidFill>
                  <a:srgbClr val="8B1A2B"/>
                </a:solidFill>
                <a:latin typeface="Arial"/>
              </a:rPr>
              <a:t>1 a 9 años: </a:t>
            </a:r>
            <a:r>
              <a:rPr sz="1600">
                <a:solidFill>
                  <a:srgbClr val="2C2C2C"/>
                </a:solidFill>
                <a:latin typeface="Arial"/>
              </a:rPr>
              <a:t>completar esquema a población rezagada.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577840" cy="594360"/>
          </a:xfrm>
          <a:prstGeom prst="rect">
            <a:avLst/>
          </a:prstGeom>
          <a:solidFill>
            <a:srgbClr val="E84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c_people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1389888"/>
            <a:ext cx="713232" cy="7132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50608" y="1463040"/>
            <a:ext cx="4553712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 Black"/>
              </a:rPr>
              <a:t>ADOLESCENTES Y ADULTOS (SR)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057400"/>
            <a:ext cx="5577840" cy="2651760"/>
          </a:xfrm>
          <a:prstGeom prst="rect">
            <a:avLst/>
          </a:prstGeom>
          <a:solidFill>
            <a:srgbClr val="FAF3EB"/>
          </a:solidFill>
          <a:ln w="9525">
            <a:solidFill>
              <a:srgbClr val="E84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09728" rtlCol="0" anchor="t"/>
          <a:lstStyle/>
          <a:p>
            <a:pPr algn="l">
              <a:spcBef>
                <a:spcPts val="200"/>
              </a:spcBef>
            </a:pPr>
            <a:r>
              <a:rPr sz="1600" b="1">
                <a:solidFill>
                  <a:srgbClr val="E84F2F"/>
                </a:solidFill>
                <a:latin typeface="Arial"/>
              </a:rPr>
              <a:t>10–49 a. con 1 dosis: </a:t>
            </a:r>
            <a:r>
              <a:rPr sz="1600">
                <a:solidFill>
                  <a:srgbClr val="2C2C2C"/>
                </a:solidFill>
                <a:latin typeface="Arial"/>
              </a:rPr>
              <a:t>aplicar 1 dosis de SR.</a:t>
            </a:r>
          </a:p>
          <a:p>
            <a:pPr algn="l">
              <a:spcBef>
                <a:spcPts val="600"/>
              </a:spcBef>
            </a:pPr>
            <a:r>
              <a:rPr sz="1600" b="1">
                <a:solidFill>
                  <a:srgbClr val="E84F2F"/>
                </a:solidFill>
                <a:latin typeface="Arial"/>
              </a:rPr>
              <a:t>10–49 a. sin esquema: </a:t>
            </a:r>
            <a:r>
              <a:rPr sz="1600">
                <a:solidFill>
                  <a:srgbClr val="2C2C2C"/>
                </a:solidFill>
                <a:latin typeface="Arial"/>
              </a:rPr>
              <a:t>2 dosis de SR, intervalo mínimo 4 semanas.</a:t>
            </a:r>
          </a:p>
          <a:p>
            <a:pPr algn="l">
              <a:spcBef>
                <a:spcPts val="600"/>
              </a:spcBef>
            </a:pPr>
            <a:r>
              <a:rPr sz="1600" b="1">
                <a:solidFill>
                  <a:srgbClr val="E84F2F"/>
                </a:solidFill>
                <a:latin typeface="Arial"/>
              </a:rPr>
              <a:t>Personal de salud: </a:t>
            </a:r>
            <a:r>
              <a:rPr sz="1600">
                <a:solidFill>
                  <a:srgbClr val="2C2C2C"/>
                </a:solidFill>
                <a:latin typeface="Arial"/>
              </a:rPr>
              <a:t>1 dosis adicional, cualquier estado vacunal.</a:t>
            </a:r>
          </a:p>
          <a:p>
            <a:pPr algn="l">
              <a:spcBef>
                <a:spcPts val="600"/>
              </a:spcBef>
            </a:pPr>
            <a:r>
              <a:rPr sz="1600" b="1">
                <a:solidFill>
                  <a:srgbClr val="E84F2F"/>
                </a:solidFill>
                <a:latin typeface="Arial"/>
              </a:rPr>
              <a:t>Guarderías / educación: </a:t>
            </a:r>
            <a:r>
              <a:rPr sz="1600">
                <a:solidFill>
                  <a:srgbClr val="2C2C2C"/>
                </a:solidFill>
                <a:latin typeface="Arial"/>
              </a:rPr>
              <a:t>1 dosis de SR (20-49 años).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4846320"/>
            <a:ext cx="100584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r"/>
            <a:r>
              <a:rPr sz="1200" b="0">
                <a:solidFill>
                  <a:srgbClr val="6B2C60"/>
                </a:solidFill>
                <a:latin typeface="Arial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00B903E-B3A7-7625-77D1-725B35CEA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31224"/>
            <a:ext cx="12192000" cy="135007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11480" y="320040"/>
            <a:ext cx="164592" cy="914400"/>
          </a:xfrm>
          <a:prstGeom prst="rect">
            <a:avLst/>
          </a:prstGeom>
          <a:solidFill>
            <a:srgbClr val="E84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412480" cy="507831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l"/>
            <a:r>
              <a:rPr sz="3000" b="1" dirty="0" err="1">
                <a:solidFill>
                  <a:srgbClr val="8B1A2B"/>
                </a:solidFill>
                <a:latin typeface="Arial Black"/>
              </a:rPr>
              <a:t>Esquema</a:t>
            </a:r>
            <a:r>
              <a:rPr sz="3000" b="1" dirty="0">
                <a:solidFill>
                  <a:srgbClr val="8B1A2B"/>
                </a:solidFill>
                <a:latin typeface="Arial Black"/>
              </a:rPr>
              <a:t> </a:t>
            </a:r>
            <a:r>
              <a:rPr sz="3000" b="1" dirty="0" err="1">
                <a:solidFill>
                  <a:srgbClr val="8B1A2B"/>
                </a:solidFill>
                <a:latin typeface="Arial Black"/>
              </a:rPr>
              <a:t>en</a:t>
            </a:r>
            <a:r>
              <a:rPr sz="3000" b="1" dirty="0">
                <a:solidFill>
                  <a:srgbClr val="8B1A2B"/>
                </a:solidFill>
                <a:latin typeface="Arial Black"/>
              </a:rPr>
              <a:t> </a:t>
            </a:r>
            <a:r>
              <a:rPr sz="3000" b="1" dirty="0" err="1">
                <a:solidFill>
                  <a:srgbClr val="8B1A2B"/>
                </a:solidFill>
                <a:latin typeface="Arial Black"/>
              </a:rPr>
              <a:t>situación</a:t>
            </a:r>
            <a:r>
              <a:rPr sz="3000" b="1" dirty="0">
                <a:solidFill>
                  <a:srgbClr val="8B1A2B"/>
                </a:solidFill>
                <a:latin typeface="Arial Black"/>
              </a:rPr>
              <a:t> de </a:t>
            </a:r>
            <a:r>
              <a:rPr sz="3000" b="1" dirty="0" err="1">
                <a:solidFill>
                  <a:srgbClr val="8B1A2B"/>
                </a:solidFill>
                <a:latin typeface="Arial Black"/>
              </a:rPr>
              <a:t>brote</a:t>
            </a:r>
            <a:endParaRPr sz="3000" b="1" dirty="0">
              <a:solidFill>
                <a:srgbClr val="8B1A2B"/>
              </a:solidFill>
              <a:latin typeface="Arial Black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577840" cy="59436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c_siren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389888"/>
            <a:ext cx="713232" cy="713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98448" y="1463040"/>
            <a:ext cx="4553712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 Black"/>
              </a:rPr>
              <a:t>DOSIS CERO Y 1 – 9 AÑOS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57400"/>
            <a:ext cx="5577840" cy="2651760"/>
          </a:xfrm>
          <a:prstGeom prst="rect">
            <a:avLst/>
          </a:prstGeom>
          <a:solidFill>
            <a:srgbClr val="FAF3EB"/>
          </a:solidFill>
          <a:ln w="9525">
            <a:solidFill>
              <a:srgbClr val="8B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09728" rtlCol="0" anchor="t"/>
          <a:lstStyle/>
          <a:p>
            <a:pPr algn="l">
              <a:spcBef>
                <a:spcPts val="200"/>
              </a:spcBef>
            </a:pPr>
            <a:r>
              <a:rPr sz="1600" b="1">
                <a:solidFill>
                  <a:srgbClr val="8B1A2B"/>
                </a:solidFill>
                <a:latin typeface="Arial"/>
              </a:rPr>
              <a:t>6–11 meses: </a:t>
            </a:r>
            <a:r>
              <a:rPr sz="1600">
                <a:solidFill>
                  <a:srgbClr val="2C2C2C"/>
                </a:solidFill>
                <a:latin typeface="Arial"/>
              </a:rPr>
              <a:t>"dosis cero" de SR o SRP (no cuenta al esquema).</a:t>
            </a:r>
          </a:p>
          <a:p>
            <a:pPr algn="l">
              <a:spcBef>
                <a:spcPts val="600"/>
              </a:spcBef>
            </a:pPr>
            <a:r>
              <a:rPr sz="1600" b="1">
                <a:solidFill>
                  <a:srgbClr val="8B1A2B"/>
                </a:solidFill>
                <a:latin typeface="Arial"/>
              </a:rPr>
              <a:t>12 meses: </a:t>
            </a:r>
            <a:r>
              <a:rPr sz="1600">
                <a:solidFill>
                  <a:srgbClr val="2C2C2C"/>
                </a:solidFill>
                <a:latin typeface="Arial"/>
              </a:rPr>
              <a:t>1.ª dosis de SRP (intervalo ≥ 4 semanas).</a:t>
            </a:r>
          </a:p>
          <a:p>
            <a:pPr algn="l">
              <a:spcBef>
                <a:spcPts val="600"/>
              </a:spcBef>
            </a:pPr>
            <a:r>
              <a:rPr sz="1600" b="1">
                <a:solidFill>
                  <a:srgbClr val="8B1A2B"/>
                </a:solidFill>
                <a:latin typeface="Arial"/>
              </a:rPr>
              <a:t>1–5 años: </a:t>
            </a:r>
            <a:r>
              <a:rPr sz="1600">
                <a:solidFill>
                  <a:srgbClr val="2C2C2C"/>
                </a:solidFill>
                <a:latin typeface="Arial"/>
              </a:rPr>
              <a:t>aplicar 1.ª dosis de SRP si no hay antecedente.</a:t>
            </a:r>
          </a:p>
          <a:p>
            <a:pPr algn="l">
              <a:spcBef>
                <a:spcPts val="600"/>
              </a:spcBef>
            </a:pPr>
            <a:r>
              <a:rPr sz="1600" b="1">
                <a:solidFill>
                  <a:srgbClr val="8B1A2B"/>
                </a:solidFill>
                <a:latin typeface="Arial"/>
              </a:rPr>
              <a:t>6–9 años: </a:t>
            </a:r>
            <a:r>
              <a:rPr sz="1600">
                <a:solidFill>
                  <a:srgbClr val="2C2C2C"/>
                </a:solidFill>
                <a:latin typeface="Arial"/>
              </a:rPr>
              <a:t>2 dosis de SRP, intervalo de 4 semanas.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577840" cy="594360"/>
          </a:xfrm>
          <a:prstGeom prst="rect">
            <a:avLst/>
          </a:prstGeom>
          <a:solidFill>
            <a:srgbClr val="6B2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c_people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1389888"/>
            <a:ext cx="713232" cy="7132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50608" y="1463040"/>
            <a:ext cx="4553712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 Black"/>
              </a:rPr>
              <a:t>CONTACTOS Y ADULTOS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057400"/>
            <a:ext cx="5577840" cy="2651760"/>
          </a:xfrm>
          <a:prstGeom prst="rect">
            <a:avLst/>
          </a:prstGeom>
          <a:solidFill>
            <a:srgbClr val="FAF3EB"/>
          </a:solidFill>
          <a:ln w="9525">
            <a:solidFill>
              <a:srgbClr val="6B2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09728" rtlCol="0" anchor="t"/>
          <a:lstStyle/>
          <a:p>
            <a:pPr algn="l">
              <a:spcBef>
                <a:spcPts val="200"/>
              </a:spcBef>
            </a:pPr>
            <a:r>
              <a:rPr sz="1600" b="1">
                <a:solidFill>
                  <a:srgbClr val="6B2C60"/>
                </a:solidFill>
                <a:latin typeface="Arial"/>
              </a:rPr>
              <a:t>10–19 años: </a:t>
            </a:r>
            <a:r>
              <a:rPr sz="1600">
                <a:solidFill>
                  <a:srgbClr val="2C2C2C"/>
                </a:solidFill>
                <a:latin typeface="Arial"/>
              </a:rPr>
              <a:t>2 dosis de SR (intervalo 1 mes).</a:t>
            </a:r>
          </a:p>
          <a:p>
            <a:pPr algn="l">
              <a:spcBef>
                <a:spcPts val="600"/>
              </a:spcBef>
            </a:pPr>
            <a:r>
              <a:rPr sz="1600" b="1">
                <a:solidFill>
                  <a:srgbClr val="6B2C60"/>
                </a:solidFill>
                <a:latin typeface="Arial"/>
              </a:rPr>
              <a:t>20–49 años: </a:t>
            </a:r>
            <a:r>
              <a:rPr sz="1600">
                <a:solidFill>
                  <a:srgbClr val="2C2C2C"/>
                </a:solidFill>
                <a:latin typeface="Arial"/>
              </a:rPr>
              <a:t>2 dosis de SR; vacunar ≤ 72 h tras contacto.</a:t>
            </a:r>
          </a:p>
          <a:p>
            <a:pPr algn="l">
              <a:spcBef>
                <a:spcPts val="600"/>
              </a:spcBef>
            </a:pPr>
            <a:r>
              <a:rPr sz="1600" b="1">
                <a:solidFill>
                  <a:srgbClr val="6B2C60"/>
                </a:solidFill>
                <a:latin typeface="Arial"/>
              </a:rPr>
              <a:t>Muy alto riesgo: </a:t>
            </a:r>
            <a:r>
              <a:rPr sz="1600">
                <a:solidFill>
                  <a:srgbClr val="2C2C2C"/>
                </a:solidFill>
                <a:latin typeface="Arial"/>
              </a:rPr>
              <a:t>vacunar sin esperar confirmación individual.</a:t>
            </a:r>
          </a:p>
          <a:p>
            <a:pPr algn="l">
              <a:spcBef>
                <a:spcPts val="600"/>
              </a:spcBef>
            </a:pPr>
            <a:r>
              <a:rPr sz="1600" b="1">
                <a:solidFill>
                  <a:srgbClr val="6B2C60"/>
                </a:solidFill>
                <a:latin typeface="Arial"/>
              </a:rPr>
              <a:t>Cerco: </a:t>
            </a:r>
            <a:r>
              <a:rPr sz="1600">
                <a:solidFill>
                  <a:srgbClr val="2C2C2C"/>
                </a:solidFill>
                <a:latin typeface="Arial"/>
              </a:rPr>
              <a:t>verificar CNS; mención verbal NO es válida.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4846320"/>
            <a:ext cx="100584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r"/>
            <a:r>
              <a:rPr sz="1200" b="0">
                <a:solidFill>
                  <a:srgbClr val="6B2C60"/>
                </a:solidFill>
                <a:latin typeface="Arial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00B903E-B3A7-7625-77D1-725B35CEA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31224"/>
            <a:ext cx="12192000" cy="135007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11480" y="320040"/>
            <a:ext cx="164592" cy="914400"/>
          </a:xfrm>
          <a:prstGeom prst="rect">
            <a:avLst/>
          </a:prstGeom>
          <a:solidFill>
            <a:srgbClr val="E84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412480" cy="105156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l"/>
            <a:r>
              <a:rPr sz="3000" b="1">
                <a:solidFill>
                  <a:srgbClr val="8B1A2B"/>
                </a:solidFill>
                <a:latin typeface="Arial Black"/>
              </a:rPr>
              <a:t>Sitio de aplicación, vía y aguja</a:t>
            </a:r>
          </a:p>
          <a:p>
            <a:pPr algn="l">
              <a:spcBef>
                <a:spcPts val="200"/>
              </a:spcBef>
            </a:pPr>
            <a:r>
              <a:rPr sz="1600" b="0">
                <a:solidFill>
                  <a:srgbClr val="6B2C60"/>
                </a:solidFill>
                <a:latin typeface="Arial"/>
              </a:rPr>
              <a:t>Técnica correcta para SRP y SR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577840" cy="59436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c_syringe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389888"/>
            <a:ext cx="713232" cy="713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98448" y="1463040"/>
            <a:ext cx="4553712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 Black"/>
              </a:rPr>
              <a:t>VÍA Y SITIO ANATÓMICO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57400"/>
            <a:ext cx="5577840" cy="2651760"/>
          </a:xfrm>
          <a:prstGeom prst="rect">
            <a:avLst/>
          </a:prstGeom>
          <a:solidFill>
            <a:srgbClr val="FAF3EB"/>
          </a:solidFill>
          <a:ln w="9525">
            <a:solidFill>
              <a:srgbClr val="8B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09728" rtlCol="0" anchor="t"/>
          <a:lstStyle/>
          <a:p>
            <a:pPr algn="l">
              <a:spcBef>
                <a:spcPts val="200"/>
              </a:spcBef>
            </a:pPr>
            <a:r>
              <a:rPr sz="1600" b="1">
                <a:solidFill>
                  <a:srgbClr val="8B1A2B"/>
                </a:solidFill>
                <a:latin typeface="Arial"/>
              </a:rPr>
              <a:t>Vía: </a:t>
            </a:r>
            <a:r>
              <a:rPr sz="1600">
                <a:solidFill>
                  <a:srgbClr val="2C2C2C"/>
                </a:solidFill>
                <a:latin typeface="Arial"/>
              </a:rPr>
              <a:t>subcutánea.</a:t>
            </a:r>
          </a:p>
          <a:p>
            <a:pPr algn="l">
              <a:spcBef>
                <a:spcPts val="600"/>
              </a:spcBef>
            </a:pPr>
            <a:r>
              <a:rPr sz="1600" b="1">
                <a:solidFill>
                  <a:srgbClr val="8B1A2B"/>
                </a:solidFill>
                <a:latin typeface="Arial"/>
              </a:rPr>
              <a:t>Sitio: </a:t>
            </a:r>
            <a:r>
              <a:rPr sz="1600">
                <a:solidFill>
                  <a:srgbClr val="2C2C2C"/>
                </a:solidFill>
                <a:latin typeface="Arial"/>
              </a:rPr>
              <a:t>región deltoidea del brazo izquierdo.</a:t>
            </a:r>
          </a:p>
          <a:p>
            <a:pPr algn="l">
              <a:spcBef>
                <a:spcPts val="600"/>
              </a:spcBef>
            </a:pPr>
            <a:r>
              <a:rPr sz="1600" b="1">
                <a:solidFill>
                  <a:srgbClr val="8B1A2B"/>
                </a:solidFill>
                <a:latin typeface="Arial"/>
              </a:rPr>
              <a:t>Técnica: </a:t>
            </a:r>
            <a:r>
              <a:rPr sz="1600">
                <a:solidFill>
                  <a:srgbClr val="2C2C2C"/>
                </a:solidFill>
                <a:latin typeface="Arial"/>
              </a:rPr>
              <a:t>pinzar la piel, ángulo de 45°.</a:t>
            </a:r>
          </a:p>
          <a:p>
            <a:pPr algn="l">
              <a:spcBef>
                <a:spcPts val="600"/>
              </a:spcBef>
            </a:pPr>
            <a:r>
              <a:rPr sz="1600" b="1">
                <a:solidFill>
                  <a:srgbClr val="8B1A2B"/>
                </a:solidFill>
                <a:latin typeface="Arial"/>
              </a:rPr>
              <a:t>Registro: </a:t>
            </a:r>
            <a:r>
              <a:rPr sz="1600">
                <a:solidFill>
                  <a:srgbClr val="2C2C2C"/>
                </a:solidFill>
                <a:latin typeface="Arial"/>
              </a:rPr>
              <a:t>anotar dosis, lote y fecha en la CNS.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577840" cy="594360"/>
          </a:xfrm>
          <a:prstGeom prst="rect">
            <a:avLst/>
          </a:prstGeom>
          <a:solidFill>
            <a:srgbClr val="E84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c_syringe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1389888"/>
            <a:ext cx="713232" cy="7132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50608" y="1463040"/>
            <a:ext cx="4553712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 Black"/>
              </a:rPr>
              <a:t>AGUJA Y JERINGA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057400"/>
            <a:ext cx="5577840" cy="2651760"/>
          </a:xfrm>
          <a:prstGeom prst="rect">
            <a:avLst/>
          </a:prstGeom>
          <a:solidFill>
            <a:srgbClr val="FAF3EB"/>
          </a:solidFill>
          <a:ln w="9525">
            <a:solidFill>
              <a:srgbClr val="E84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09728" rtlCol="0" anchor="t"/>
          <a:lstStyle/>
          <a:p>
            <a:pPr algn="l">
              <a:spcBef>
                <a:spcPts val="200"/>
              </a:spcBef>
            </a:pPr>
            <a:r>
              <a:rPr sz="1600" b="1">
                <a:solidFill>
                  <a:srgbClr val="E84F2F"/>
                </a:solidFill>
                <a:latin typeface="Arial"/>
              </a:rPr>
              <a:t>Aguja: </a:t>
            </a:r>
            <a:r>
              <a:rPr sz="1600">
                <a:solidFill>
                  <a:srgbClr val="2C2C2C"/>
                </a:solidFill>
                <a:latin typeface="Arial"/>
              </a:rPr>
              <a:t>27 G × 13 mm (aplicación).</a:t>
            </a:r>
          </a:p>
          <a:p>
            <a:pPr algn="l">
              <a:spcBef>
                <a:spcPts val="600"/>
              </a:spcBef>
            </a:pPr>
            <a:r>
              <a:rPr sz="1600" b="1">
                <a:solidFill>
                  <a:srgbClr val="E84F2F"/>
                </a:solidFill>
                <a:latin typeface="Arial"/>
              </a:rPr>
              <a:t>Jeringa: </a:t>
            </a:r>
            <a:r>
              <a:rPr sz="1600">
                <a:solidFill>
                  <a:srgbClr val="2C2C2C"/>
                </a:solidFill>
                <a:latin typeface="Arial"/>
              </a:rPr>
              <a:t>0.5 mL.</a:t>
            </a:r>
          </a:p>
          <a:p>
            <a:pPr algn="l">
              <a:spcBef>
                <a:spcPts val="600"/>
              </a:spcBef>
            </a:pPr>
            <a:r>
              <a:rPr sz="1600" b="1">
                <a:solidFill>
                  <a:srgbClr val="E84F2F"/>
                </a:solidFill>
                <a:latin typeface="Arial"/>
              </a:rPr>
              <a:t>Reconstitución: </a:t>
            </a:r>
            <a:r>
              <a:rPr sz="1600">
                <a:solidFill>
                  <a:srgbClr val="2C2C2C"/>
                </a:solidFill>
                <a:latin typeface="Arial"/>
              </a:rPr>
              <a:t>20 G × 32 mm (BCG, SR, SRP).</a:t>
            </a:r>
          </a:p>
          <a:p>
            <a:pPr algn="l">
              <a:spcBef>
                <a:spcPts val="600"/>
              </a:spcBef>
            </a:pPr>
            <a:r>
              <a:rPr sz="1600" b="1">
                <a:solidFill>
                  <a:srgbClr val="E84F2F"/>
                </a:solidFill>
                <a:latin typeface="Arial"/>
              </a:rPr>
              <a:t>RPBI: </a:t>
            </a:r>
            <a:r>
              <a:rPr sz="1600">
                <a:solidFill>
                  <a:srgbClr val="2C2C2C"/>
                </a:solidFill>
                <a:latin typeface="Arial"/>
              </a:rPr>
              <a:t>bolsa roja (viral atenuada); aguja en rígido rojo.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4846320"/>
            <a:ext cx="100584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r"/>
            <a:r>
              <a:rPr sz="1200" b="0">
                <a:solidFill>
                  <a:srgbClr val="6B2C60"/>
                </a:solidFill>
                <a:latin typeface="Arial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00B903E-B3A7-7625-77D1-725B35CEA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31224"/>
            <a:ext cx="12192000" cy="135007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11480" y="320040"/>
            <a:ext cx="164592" cy="914400"/>
          </a:xfrm>
          <a:prstGeom prst="rect">
            <a:avLst/>
          </a:prstGeom>
          <a:solidFill>
            <a:srgbClr val="E84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412480" cy="105156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l"/>
            <a:r>
              <a:rPr sz="3000" b="1">
                <a:solidFill>
                  <a:srgbClr val="8B1A2B"/>
                </a:solidFill>
                <a:latin typeface="Arial Black"/>
              </a:rPr>
              <a:t>Dosis y aplicación</a:t>
            </a:r>
          </a:p>
          <a:p>
            <a:pPr algn="l">
              <a:spcBef>
                <a:spcPts val="200"/>
              </a:spcBef>
            </a:pPr>
            <a:r>
              <a:rPr sz="1600" b="0">
                <a:solidFill>
                  <a:srgbClr val="6B2C60"/>
                </a:solidFill>
                <a:latin typeface="Arial"/>
              </a:rPr>
              <a:t>Volumen, intervalos y buenas prácticas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577840" cy="59436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c_cross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389888"/>
            <a:ext cx="713232" cy="713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98448" y="1463040"/>
            <a:ext cx="4553712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 Black"/>
              </a:rPr>
              <a:t>DOSIS E INTERVALOS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57400"/>
            <a:ext cx="5577840" cy="2651760"/>
          </a:xfrm>
          <a:prstGeom prst="rect">
            <a:avLst/>
          </a:prstGeom>
          <a:solidFill>
            <a:srgbClr val="FAF3EB"/>
          </a:solidFill>
          <a:ln w="9525">
            <a:solidFill>
              <a:srgbClr val="8B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09728" rtlCol="0" anchor="t"/>
          <a:lstStyle/>
          <a:p>
            <a:pPr algn="l">
              <a:spcBef>
                <a:spcPts val="200"/>
              </a:spcBef>
            </a:pPr>
            <a:r>
              <a:rPr sz="1600" b="1">
                <a:solidFill>
                  <a:srgbClr val="8B1A2B"/>
                </a:solidFill>
                <a:latin typeface="Arial"/>
              </a:rPr>
              <a:t>Dosis: </a:t>
            </a:r>
            <a:r>
              <a:rPr sz="1600">
                <a:solidFill>
                  <a:srgbClr val="2C2C2C"/>
                </a:solidFill>
                <a:latin typeface="Arial"/>
              </a:rPr>
              <a:t>0.5 mL (SRP y SR).</a:t>
            </a:r>
          </a:p>
          <a:p>
            <a:pPr algn="l">
              <a:spcBef>
                <a:spcPts val="600"/>
              </a:spcBef>
            </a:pPr>
            <a:r>
              <a:rPr sz="1600" b="1">
                <a:solidFill>
                  <a:srgbClr val="8B1A2B"/>
                </a:solidFill>
                <a:latin typeface="Arial"/>
              </a:rPr>
              <a:t>SRP: </a:t>
            </a:r>
            <a:r>
              <a:rPr sz="1600">
                <a:solidFill>
                  <a:srgbClr val="2C2C2C"/>
                </a:solidFill>
                <a:latin typeface="Arial"/>
              </a:rPr>
              <a:t>2 dosis (12 y 18 meses o a los 6 años).</a:t>
            </a:r>
          </a:p>
          <a:p>
            <a:pPr algn="l">
              <a:spcBef>
                <a:spcPts val="600"/>
              </a:spcBef>
            </a:pPr>
            <a:r>
              <a:rPr sz="1600" b="1">
                <a:solidFill>
                  <a:srgbClr val="8B1A2B"/>
                </a:solidFill>
                <a:latin typeface="Arial"/>
              </a:rPr>
              <a:t>SR adultos: </a:t>
            </a:r>
            <a:r>
              <a:rPr sz="1600">
                <a:solidFill>
                  <a:srgbClr val="2C2C2C"/>
                </a:solidFill>
                <a:latin typeface="Arial"/>
              </a:rPr>
              <a:t>1 o 2 dosis según antecedente.</a:t>
            </a:r>
          </a:p>
          <a:p>
            <a:pPr algn="l">
              <a:spcBef>
                <a:spcPts val="600"/>
              </a:spcBef>
            </a:pPr>
            <a:r>
              <a:rPr sz="1600" b="1">
                <a:solidFill>
                  <a:srgbClr val="8B1A2B"/>
                </a:solidFill>
                <a:latin typeface="Arial"/>
              </a:rPr>
              <a:t>Intervalo mín.: </a:t>
            </a:r>
            <a:r>
              <a:rPr sz="1600">
                <a:solidFill>
                  <a:srgbClr val="2C2C2C"/>
                </a:solidFill>
                <a:latin typeface="Arial"/>
              </a:rPr>
              <a:t>4 semanas entre vacunas virales atenuadas.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577840" cy="594360"/>
          </a:xfrm>
          <a:prstGeom prst="rect">
            <a:avLst/>
          </a:prstGeom>
          <a:solidFill>
            <a:srgbClr val="6B2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c_info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1389888"/>
            <a:ext cx="713232" cy="7132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50608" y="1463040"/>
            <a:ext cx="4553712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 Black"/>
              </a:rPr>
              <a:t>BUENAS PRÁCTICAS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057400"/>
            <a:ext cx="5577840" cy="2651760"/>
          </a:xfrm>
          <a:prstGeom prst="rect">
            <a:avLst/>
          </a:prstGeom>
          <a:solidFill>
            <a:srgbClr val="FAF3EB"/>
          </a:solidFill>
          <a:ln w="9525">
            <a:solidFill>
              <a:srgbClr val="6B2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09728" rtlCol="0" anchor="t"/>
          <a:lstStyle/>
          <a:p>
            <a:pPr algn="l">
              <a:spcBef>
                <a:spcPts val="200"/>
              </a:spcBef>
            </a:pPr>
            <a:r>
              <a:rPr sz="1600" b="1">
                <a:solidFill>
                  <a:srgbClr val="6B2C60"/>
                </a:solidFill>
                <a:latin typeface="Arial"/>
              </a:rPr>
              <a:t>Intercambiabilidad: </a:t>
            </a:r>
            <a:r>
              <a:rPr sz="1600">
                <a:solidFill>
                  <a:srgbClr val="2C2C2C"/>
                </a:solidFill>
                <a:latin typeface="Arial"/>
              </a:rPr>
              <a:t>completar con el mismo biológico.</a:t>
            </a:r>
          </a:p>
          <a:p>
            <a:pPr algn="l">
              <a:spcBef>
                <a:spcPts val="600"/>
              </a:spcBef>
            </a:pPr>
            <a:r>
              <a:rPr sz="1600" b="1">
                <a:solidFill>
                  <a:srgbClr val="6B2C60"/>
                </a:solidFill>
                <a:latin typeface="Arial"/>
              </a:rPr>
              <a:t>Reconstitución: </a:t>
            </a:r>
            <a:r>
              <a:rPr sz="1600">
                <a:solidFill>
                  <a:srgbClr val="2C2C2C"/>
                </a:solidFill>
                <a:latin typeface="Arial"/>
              </a:rPr>
              <a:t>usar SOLO el diluyente que acompaña.</a:t>
            </a:r>
          </a:p>
          <a:p>
            <a:pPr algn="l">
              <a:spcBef>
                <a:spcPts val="600"/>
              </a:spcBef>
            </a:pPr>
            <a:r>
              <a:rPr sz="1600" b="1">
                <a:solidFill>
                  <a:srgbClr val="6B2C60"/>
                </a:solidFill>
                <a:latin typeface="Arial"/>
              </a:rPr>
              <a:t>Uso: </a:t>
            </a:r>
            <a:r>
              <a:rPr sz="1600">
                <a:solidFill>
                  <a:srgbClr val="2C2C2C"/>
                </a:solidFill>
                <a:latin typeface="Arial"/>
              </a:rPr>
              <a:t>máximo 6 h tras reconstituir.</a:t>
            </a:r>
          </a:p>
          <a:p>
            <a:pPr algn="l">
              <a:spcBef>
                <a:spcPts val="600"/>
              </a:spcBef>
            </a:pPr>
            <a:r>
              <a:rPr sz="1600" b="1">
                <a:solidFill>
                  <a:srgbClr val="6B2C60"/>
                </a:solidFill>
                <a:latin typeface="Arial"/>
              </a:rPr>
              <a:t>Verificar: </a:t>
            </a:r>
            <a:r>
              <a:rPr sz="1600">
                <a:solidFill>
                  <a:srgbClr val="2C2C2C"/>
                </a:solidFill>
                <a:latin typeface="Arial"/>
              </a:rPr>
              <a:t>etiqueta, lote, caducidad y aspecto.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4846320"/>
            <a:ext cx="100584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r"/>
            <a:r>
              <a:rPr sz="1200" b="0">
                <a:solidFill>
                  <a:srgbClr val="6B2C60"/>
                </a:solidFill>
                <a:latin typeface="Arial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00B903E-B3A7-7625-77D1-725B35CEA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31224"/>
            <a:ext cx="12192000" cy="135007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11480" y="320040"/>
            <a:ext cx="164592" cy="914400"/>
          </a:xfrm>
          <a:prstGeom prst="rect">
            <a:avLst/>
          </a:prstGeom>
          <a:solidFill>
            <a:srgbClr val="E84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412480" cy="105156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l"/>
            <a:r>
              <a:rPr sz="3000" b="1">
                <a:solidFill>
                  <a:srgbClr val="8B1A2B"/>
                </a:solidFill>
                <a:latin typeface="Arial Black"/>
              </a:rPr>
              <a:t>Contraindicaciones y precauciones</a:t>
            </a:r>
          </a:p>
          <a:p>
            <a:pPr algn="l">
              <a:spcBef>
                <a:spcPts val="200"/>
              </a:spcBef>
            </a:pPr>
            <a:r>
              <a:rPr sz="1600" b="0">
                <a:solidFill>
                  <a:srgbClr val="6B2C60"/>
                </a:solidFill>
                <a:latin typeface="Arial"/>
              </a:rPr>
              <a:t>Vacunas SRP y SR — virus vivos atenuados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577840" cy="59436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c_warning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389888"/>
            <a:ext cx="713232" cy="713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98448" y="1463040"/>
            <a:ext cx="4553712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 Black"/>
              </a:rPr>
              <a:t>CONTRAINDICACIONES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57400"/>
            <a:ext cx="5577840" cy="2651760"/>
          </a:xfrm>
          <a:prstGeom prst="rect">
            <a:avLst/>
          </a:prstGeom>
          <a:solidFill>
            <a:srgbClr val="FAF3EB"/>
          </a:solidFill>
          <a:ln w="9525">
            <a:solidFill>
              <a:srgbClr val="8B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09728" rtlCol="0" anchor="t"/>
          <a:lstStyle/>
          <a:p>
            <a:pPr algn="l">
              <a:spcBef>
                <a:spcPts val="200"/>
              </a:spcBef>
            </a:pPr>
            <a:r>
              <a:rPr sz="1600">
                <a:solidFill>
                  <a:srgbClr val="2C2C2C"/>
                </a:solidFill>
                <a:latin typeface="Arial"/>
              </a:rPr>
              <a:t>• Embarazo (evitar gestación en los 30 días siguientes).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2C2C2C"/>
                </a:solidFill>
                <a:latin typeface="Arial"/>
              </a:rPr>
              <a:t>• Inmunodeficiencias graves; leucemia o neoplasias activas.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2C2C2C"/>
                </a:solidFill>
                <a:latin typeface="Arial"/>
              </a:rPr>
              <a:t>• Tratamiento inmunosupresor o corticoides a dosis altas.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2C2C2C"/>
                </a:solidFill>
                <a:latin typeface="Arial"/>
              </a:rPr>
              <a:t>• VIH con inmunosupresión severa; anafilaxia a componentes.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577840" cy="594360"/>
          </a:xfrm>
          <a:prstGeom prst="rect">
            <a:avLst/>
          </a:prstGeom>
          <a:solidFill>
            <a:srgbClr val="E84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c_warning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1389888"/>
            <a:ext cx="713232" cy="7132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50608" y="1463040"/>
            <a:ext cx="4553712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 Black"/>
              </a:rPr>
              <a:t>PRECAUCIONES / DIFERIR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057400"/>
            <a:ext cx="5577840" cy="2651760"/>
          </a:xfrm>
          <a:prstGeom prst="rect">
            <a:avLst/>
          </a:prstGeom>
          <a:solidFill>
            <a:srgbClr val="FAF3EB"/>
          </a:solidFill>
          <a:ln w="9525">
            <a:solidFill>
              <a:srgbClr val="E84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09728" rtlCol="0" anchor="t"/>
          <a:lstStyle/>
          <a:p>
            <a:pPr algn="l">
              <a:spcBef>
                <a:spcPts val="200"/>
              </a:spcBef>
            </a:pPr>
            <a:r>
              <a:rPr sz="1600">
                <a:solidFill>
                  <a:srgbClr val="2C2C2C"/>
                </a:solidFill>
                <a:latin typeface="Arial"/>
              </a:rPr>
              <a:t>• Enfermedad febril aguda moderada o grave.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2C2C2C"/>
                </a:solidFill>
                <a:latin typeface="Arial"/>
              </a:rPr>
              <a:t>• Inmunoglobulinas recientes: diferir 3-11 meses.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2C2C2C"/>
                </a:solidFill>
                <a:latin typeface="Arial"/>
              </a:rPr>
              <a:t>• Otra vacuna viral atenuada inyectable: intervalo 4 sem.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2C2C2C"/>
                </a:solidFill>
                <a:latin typeface="Arial"/>
              </a:rPr>
              <a:t>• NO contraindica: resfriado, lactancia ni alergia al huevo.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4846320"/>
            <a:ext cx="100584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r"/>
            <a:r>
              <a:rPr sz="1200" b="0">
                <a:solidFill>
                  <a:srgbClr val="6B2C60"/>
                </a:solidFill>
                <a:latin typeface="Arial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00B903E-B3A7-7625-77D1-725B35CEA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31224"/>
            <a:ext cx="12192000" cy="135007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11480" y="320040"/>
            <a:ext cx="164592" cy="914400"/>
          </a:xfrm>
          <a:prstGeom prst="rect">
            <a:avLst/>
          </a:prstGeom>
          <a:solidFill>
            <a:srgbClr val="E84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412480" cy="105156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l"/>
            <a:r>
              <a:rPr sz="3000" b="1">
                <a:solidFill>
                  <a:srgbClr val="8B1A2B"/>
                </a:solidFill>
                <a:latin typeface="Arial Black"/>
              </a:rPr>
              <a:t>Efectos adversos y ESAVI</a:t>
            </a:r>
          </a:p>
          <a:p>
            <a:pPr algn="l">
              <a:spcBef>
                <a:spcPts val="200"/>
              </a:spcBef>
            </a:pPr>
            <a:r>
              <a:rPr sz="1600" b="0">
                <a:solidFill>
                  <a:srgbClr val="6B2C60"/>
                </a:solidFill>
                <a:latin typeface="Arial"/>
              </a:rPr>
              <a:t>Eventos Supuestamente Atribuibles a la Vacunación o Inmunización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577840" cy="59436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c_stetho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389888"/>
            <a:ext cx="713232" cy="713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98448" y="1463040"/>
            <a:ext cx="4553712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 Black"/>
              </a:rPr>
              <a:t>ESAVI NO GRAVES (frecuentes)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57400"/>
            <a:ext cx="5577840" cy="2651760"/>
          </a:xfrm>
          <a:prstGeom prst="rect">
            <a:avLst/>
          </a:prstGeom>
          <a:solidFill>
            <a:srgbClr val="FAF3EB"/>
          </a:solidFill>
          <a:ln w="9525">
            <a:solidFill>
              <a:srgbClr val="8B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09728" rtlCol="0" anchor="t"/>
          <a:lstStyle/>
          <a:p>
            <a:pPr algn="l">
              <a:spcBef>
                <a:spcPts val="200"/>
              </a:spcBef>
            </a:pPr>
            <a:r>
              <a:rPr sz="1600">
                <a:solidFill>
                  <a:srgbClr val="2C2C2C"/>
                </a:solidFill>
                <a:latin typeface="Arial"/>
              </a:rPr>
              <a:t>• Dolor, eritema o induración local (24–48 h).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2C2C2C"/>
                </a:solidFill>
                <a:latin typeface="Arial"/>
              </a:rPr>
              <a:t>• Fiebre leve 5-12 días post-vacunación.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2C2C2C"/>
                </a:solidFill>
                <a:latin typeface="Arial"/>
              </a:rPr>
              <a:t>• Exantema transitorio similar a sarampión.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2C2C2C"/>
                </a:solidFill>
                <a:latin typeface="Arial"/>
              </a:rPr>
              <a:t>• Notificar a la DGE en &lt; 48 h tras detectar.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577840" cy="594360"/>
          </a:xfrm>
          <a:prstGeom prst="rect">
            <a:avLst/>
          </a:prstGeom>
          <a:solidFill>
            <a:srgbClr val="6B2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c_stetho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1389888"/>
            <a:ext cx="713232" cy="7132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50608" y="1463040"/>
            <a:ext cx="4553712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 Black"/>
              </a:rPr>
              <a:t>ESAVI GRAVES (raros)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057400"/>
            <a:ext cx="5577840" cy="2651760"/>
          </a:xfrm>
          <a:prstGeom prst="rect">
            <a:avLst/>
          </a:prstGeom>
          <a:solidFill>
            <a:srgbClr val="FAF3EB"/>
          </a:solidFill>
          <a:ln w="9525">
            <a:solidFill>
              <a:srgbClr val="6B2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09728" rtlCol="0" anchor="t"/>
          <a:lstStyle/>
          <a:p>
            <a:pPr algn="l">
              <a:spcBef>
                <a:spcPts val="200"/>
              </a:spcBef>
            </a:pPr>
            <a:r>
              <a:rPr sz="1600">
                <a:solidFill>
                  <a:srgbClr val="2C2C2C"/>
                </a:solidFill>
                <a:latin typeface="Arial"/>
              </a:rPr>
              <a:t>• Anafilaxia (&lt; 1 por millón).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2C2C2C"/>
                </a:solidFill>
                <a:latin typeface="Arial"/>
              </a:rPr>
              <a:t>• Trombocitopenia transitoria (1 / 30 000 dosis).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2C2C2C"/>
                </a:solidFill>
                <a:latin typeface="Arial"/>
              </a:rPr>
              <a:t>• Convulsiones febriles; encefalitis (excepcional).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2C2C2C"/>
                </a:solidFill>
                <a:latin typeface="Arial"/>
              </a:rPr>
              <a:t>• NOTIFICACIÓN INMEDIATA a la DGE en &lt; 24 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4846320"/>
            <a:ext cx="100584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r"/>
            <a:r>
              <a:rPr sz="1200" b="0">
                <a:solidFill>
                  <a:srgbClr val="6B2C60"/>
                </a:solidFill>
                <a:latin typeface="Arial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00B903E-B3A7-7625-77D1-725B35CEA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31224"/>
            <a:ext cx="12192000" cy="135007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11480" y="320040"/>
            <a:ext cx="164592" cy="914400"/>
          </a:xfrm>
          <a:prstGeom prst="rect">
            <a:avLst/>
          </a:prstGeom>
          <a:solidFill>
            <a:srgbClr val="E84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412480" cy="105156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l"/>
            <a:r>
              <a:rPr sz="3000" b="1">
                <a:solidFill>
                  <a:srgbClr val="8B1A2B"/>
                </a:solidFill>
                <a:latin typeface="Arial Black"/>
              </a:rPr>
              <a:t>Mensajes clave para vacunar</a:t>
            </a:r>
          </a:p>
          <a:p>
            <a:pPr algn="l">
              <a:spcBef>
                <a:spcPts val="200"/>
              </a:spcBef>
            </a:pPr>
            <a:r>
              <a:rPr sz="1600" b="0">
                <a:solidFill>
                  <a:srgbClr val="6B2C60"/>
                </a:solidFill>
                <a:latin typeface="Arial"/>
              </a:rPr>
              <a:t>Vacunación segura, oportuna y registrada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577840" cy="594360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c_shield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389888"/>
            <a:ext cx="713232" cy="713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98448" y="1463040"/>
            <a:ext cx="4553712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 Black"/>
              </a:rPr>
              <a:t>ACCIONES PRIORITARIAS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57400"/>
            <a:ext cx="5577840" cy="2651760"/>
          </a:xfrm>
          <a:prstGeom prst="rect">
            <a:avLst/>
          </a:prstGeom>
          <a:solidFill>
            <a:srgbClr val="FAF3EB"/>
          </a:solidFill>
          <a:ln w="9525">
            <a:solidFill>
              <a:srgbClr val="8B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09728" rtlCol="0" anchor="t"/>
          <a:lstStyle/>
          <a:p>
            <a:pPr algn="l">
              <a:spcBef>
                <a:spcPts val="200"/>
              </a:spcBef>
            </a:pPr>
            <a:r>
              <a:rPr sz="1600">
                <a:solidFill>
                  <a:srgbClr val="2C2C2C"/>
                </a:solidFill>
                <a:latin typeface="Arial"/>
              </a:rPr>
              <a:t>• Revisar CNS en cada consulta (no aceptar mención verbal).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2C2C2C"/>
                </a:solidFill>
                <a:latin typeface="Arial"/>
              </a:rPr>
              <a:t>• Dosis cero (6-11 m) en brote y 1.ª SRP a los 12 meses.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2C2C2C"/>
                </a:solidFill>
                <a:latin typeface="Arial"/>
              </a:rPr>
              <a:t>• Completar esquema SRP/SR en 1-49 años.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2C2C2C"/>
                </a:solidFill>
                <a:latin typeface="Arial"/>
              </a:rPr>
              <a:t>• Aplicar SC en deltoides izquierdo con aguja 27 G × 13 mm.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577840" cy="594360"/>
          </a:xfrm>
          <a:prstGeom prst="rect">
            <a:avLst/>
          </a:prstGeom>
          <a:solidFill>
            <a:srgbClr val="E84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c_shield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1389888"/>
            <a:ext cx="713232" cy="7132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50608" y="1463040"/>
            <a:ext cx="4553712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 Black"/>
              </a:rPr>
              <a:t>SEGURIDAD Y VIGILANCIA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057400"/>
            <a:ext cx="5577840" cy="2651760"/>
          </a:xfrm>
          <a:prstGeom prst="rect">
            <a:avLst/>
          </a:prstGeom>
          <a:solidFill>
            <a:srgbClr val="FAF3EB"/>
          </a:solidFill>
          <a:ln w="9525">
            <a:solidFill>
              <a:srgbClr val="E84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09728" rtlCol="0" anchor="t"/>
          <a:lstStyle/>
          <a:p>
            <a:pPr algn="l">
              <a:spcBef>
                <a:spcPts val="200"/>
              </a:spcBef>
            </a:pPr>
            <a:r>
              <a:rPr sz="1600">
                <a:solidFill>
                  <a:srgbClr val="2C2C2C"/>
                </a:solidFill>
                <a:latin typeface="Arial"/>
              </a:rPr>
              <a:t>• Cadena de frío +2 a +8 °C; anotar reconstitución.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2C2C2C"/>
                </a:solidFill>
                <a:latin typeface="Arial"/>
              </a:rPr>
              <a:t>• Ante duda sobre contraindicación, diferir y consultar.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2C2C2C"/>
                </a:solidFill>
                <a:latin typeface="Arial"/>
              </a:rPr>
              <a:t>• Notificar ESAVI: no graves &lt; 48 h, graves &lt; 24 h.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2C2C2C"/>
                </a:solidFill>
                <a:latin typeface="Arial"/>
              </a:rPr>
              <a:t>• Registrar dosis, lote y fecha en CNS y sistema nominal.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4846320"/>
            <a:ext cx="100584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r"/>
            <a:r>
              <a:rPr sz="1200" b="0">
                <a:solidFill>
                  <a:srgbClr val="6B2C60"/>
                </a:solidFill>
                <a:latin typeface="Arial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9443</TotalTime>
  <Words>1012</Words>
  <Application>Microsoft Office PowerPoint</Application>
  <PresentationFormat>Panorámica</PresentationFormat>
  <Paragraphs>122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Arial Black</vt:lpstr>
      <vt:lpstr>2_Tema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Cuenta Microsoft</dc:creator>
  <cp:lastModifiedBy>Alicia Esparza</cp:lastModifiedBy>
  <cp:revision>1332</cp:revision>
  <dcterms:created xsi:type="dcterms:W3CDTF">2025-08-07T16:21:48Z</dcterms:created>
  <dcterms:modified xsi:type="dcterms:W3CDTF">2026-05-09T22:43:46Z</dcterms:modified>
</cp:coreProperties>
</file>