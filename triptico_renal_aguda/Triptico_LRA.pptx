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0689336" cy="756208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" y="457200"/>
            <a:ext cx="338023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000">
                <a:solidFill>
                  <a:srgbClr val="800000"/>
                </a:solidFill>
              </a:defRPr>
            </a:pPr>
            <a:r>
              <a:t>¿QUÉ 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05840"/>
            <a:ext cx="3014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23232"/>
                </a:solidFill>
              </a:defRPr>
            </a:pPr>
            <a:r>
              <a:t>• La Lesión Renal Aguda (LRA) es la disminución súbita de la función renal.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3014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23232"/>
                </a:solidFill>
              </a:defRPr>
            </a:pPr>
            <a:r>
              <a:t>• Ocurre en horas o días y puede ser reversible si se trata a tiempo.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2560320"/>
            <a:ext cx="338023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000">
                <a:solidFill>
                  <a:srgbClr val="800000"/>
                </a:solidFill>
              </a:defRPr>
            </a:pPr>
            <a:r>
              <a:t>PRINCIPALES CAUSAS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3108960"/>
            <a:ext cx="3014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23232"/>
                </a:solidFill>
              </a:defRPr>
            </a:pPr>
            <a:r>
              <a:t>• Deshidratación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3474720"/>
            <a:ext cx="3014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23232"/>
                </a:solidFill>
              </a:defRPr>
            </a:pPr>
            <a:r>
              <a:t>• Sepsis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3840480"/>
            <a:ext cx="3014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23232"/>
                </a:solidFill>
              </a:defRPr>
            </a:pPr>
            <a:r>
              <a:t>• Choque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206240"/>
            <a:ext cx="3014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23232"/>
                </a:solidFill>
              </a:defRPr>
            </a:pPr>
            <a:r>
              <a:t>• Medicamentos nefrotóxicos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4552" y="457200"/>
            <a:ext cx="338023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000">
                <a:solidFill>
                  <a:srgbClr val="800000"/>
                </a:solidFill>
              </a:defRPr>
            </a:pPr>
            <a:r>
              <a:t>SIGNOS Y SÍNTOMAS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37432" y="1005840"/>
            <a:ext cx="3014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23232"/>
                </a:solidFill>
              </a:defRPr>
            </a:pPr>
            <a:r>
              <a:t>• Oliguria o anuria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37432" y="1371600"/>
            <a:ext cx="3014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23232"/>
                </a:solidFill>
              </a:defRPr>
            </a:pPr>
            <a:r>
              <a:t>• Aumento rápido de peso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37432" y="1737360"/>
            <a:ext cx="3014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23232"/>
                </a:solidFill>
              </a:defRPr>
            </a:pPr>
            <a:r>
              <a:t>• Edema generalizado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37432" y="2103120"/>
            <a:ext cx="3014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23232"/>
                </a:solidFill>
              </a:defRPr>
            </a:pPr>
            <a:r>
              <a:t>• Fatiga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37432" y="2468880"/>
            <a:ext cx="3014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23232"/>
                </a:solidFill>
              </a:defRPr>
            </a:pPr>
            <a:r>
              <a:t>• Confusión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37432" y="2834640"/>
            <a:ext cx="3014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23232"/>
                </a:solidFill>
              </a:defRPr>
            </a:pPr>
            <a:r>
              <a:t>• Alteraciones electrolíticas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17664" y="457200"/>
            <a:ext cx="338023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000">
                <a:solidFill>
                  <a:srgbClr val="800000"/>
                </a:solidFill>
              </a:defRPr>
            </a:pPr>
            <a:r>
              <a:t>CUIDADOS DE ENFERMERÍA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0544" y="1005840"/>
            <a:ext cx="3014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23232"/>
                </a:solidFill>
              </a:defRPr>
            </a:pPr>
            <a:r>
              <a:t>• Control estricto de signos vitales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0544" y="1371600"/>
            <a:ext cx="3014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23232"/>
                </a:solidFill>
              </a:defRPr>
            </a:pPr>
            <a:r>
              <a:t>• Balance hídrico horario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0544" y="1737360"/>
            <a:ext cx="3014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23232"/>
                </a:solidFill>
              </a:defRPr>
            </a:pPr>
            <a:r>
              <a:t>• Monitorización de diuresis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0544" y="2103120"/>
            <a:ext cx="3014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23232"/>
                </a:solidFill>
              </a:defRPr>
            </a:pPr>
            <a:r>
              <a:t>• Administración segura de líquidos y fármacos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0544" y="2468880"/>
            <a:ext cx="3014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23232"/>
                </a:solidFill>
              </a:defRPr>
            </a:pPr>
            <a:r>
              <a:t>• Prevención de infecciones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0544" y="2834640"/>
            <a:ext cx="3014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23232"/>
                </a:solidFill>
              </a:defRPr>
            </a:pPr>
            <a:r>
              <a:t>• Vigilancia de electrolitos</a:t>
            </a:r>
          </a:p>
        </p:txBody>
      </p:sp>
      <p:pic>
        <p:nvPicPr>
          <p:cNvPr id="24" name="Picture 23" descr="nurs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3424" y="502920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" y="457200"/>
            <a:ext cx="338023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000">
                <a:solidFill>
                  <a:srgbClr val="800000"/>
                </a:solidFill>
              </a:defRPr>
            </a:pPr>
            <a:r>
              <a:t>EDUCACIÓN AL PACIENTE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05840"/>
            <a:ext cx="3014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23232"/>
                </a:solidFill>
              </a:defRPr>
            </a:pPr>
            <a:r>
              <a:t>• No automedicarse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3014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23232"/>
                </a:solidFill>
              </a:defRPr>
            </a:pPr>
            <a:r>
              <a:t>• Mantener hidratación adecuada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737360"/>
            <a:ext cx="3014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23232"/>
                </a:solidFill>
              </a:defRPr>
            </a:pPr>
            <a:r>
              <a:t>• Reportar cambios en la orina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103120"/>
            <a:ext cx="3014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23232"/>
                </a:solidFill>
              </a:defRPr>
            </a:pPr>
            <a:r>
              <a:t>• Cumplir indicaciones médicas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468880"/>
            <a:ext cx="3014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23232"/>
                </a:solidFill>
              </a:defRPr>
            </a:pPr>
            <a:r>
              <a:t>• Asistir a seguimiento clínico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4552" y="457200"/>
            <a:ext cx="338023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>
                <a:solidFill>
                  <a:srgbClr val="A00000"/>
                </a:solidFill>
              </a:defRPr>
            </a:pPr>
            <a:r>
              <a:t>¿CUÁNDO ACUDIR AL</a:t>
            </a:r>
            <a:br/>
            <a:r>
              <a:t>SERVICIO DE SALUD?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37432" y="1005840"/>
            <a:ext cx="3014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23232"/>
                </a:solidFill>
              </a:defRPr>
            </a:pPr>
            <a:r>
              <a:t>• Disminución o ausencia de orina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37432" y="1371600"/>
            <a:ext cx="3014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23232"/>
                </a:solidFill>
              </a:defRPr>
            </a:pPr>
            <a:r>
              <a:t>• Edema súbito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37432" y="1737360"/>
            <a:ext cx="3014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23232"/>
                </a:solidFill>
              </a:defRPr>
            </a:pPr>
            <a:r>
              <a:t>• Dificultad respiratoria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37432" y="2103120"/>
            <a:ext cx="3014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23232"/>
                </a:solidFill>
              </a:defRPr>
            </a:pPr>
            <a:r>
              <a:t>• Confusión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37432" y="2468880"/>
            <a:ext cx="3014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23232"/>
                </a:solidFill>
              </a:defRPr>
            </a:pPr>
            <a:r>
              <a:t>• Náuseas o vómitos persistentes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4552" y="6400800"/>
            <a:ext cx="338023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La atención inmediata es vital.</a:t>
            </a:r>
          </a:p>
        </p:txBody>
      </p:sp>
      <p:pic>
        <p:nvPicPr>
          <p:cNvPr id="15" name="Picture 14" descr="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6224" y="0"/>
            <a:ext cx="3563112" cy="756208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309104" y="457200"/>
            <a:ext cx="319735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3200">
                <a:solidFill>
                  <a:srgbClr val="FFFFFF"/>
                </a:solidFill>
              </a:defRPr>
            </a:pPr>
            <a:r>
              <a:t>LESIÓN RENAL</a:t>
            </a:r>
            <a:br/>
            <a:r>
              <a:t>AGUDA</a:t>
            </a:r>
          </a:p>
          <a:p>
            <a:pPr algn="ctr">
              <a:defRPr sz="1800">
                <a:solidFill>
                  <a:srgbClr val="FFC8C8"/>
                </a:solidFill>
              </a:defRPr>
            </a:pPr>
            <a:r>
              <a:t>Cuidados de Enfermería</a:t>
            </a:r>
          </a:p>
          <a:p>
            <a:br/>
            <a:pPr algn="ctr">
              <a:defRPr sz="1200">
                <a:solidFill>
                  <a:srgbClr val="FFFFFF"/>
                </a:solidFill>
              </a:defRPr>
            </a:pPr>
            <a:r>
              <a:t>Atención oportuna • Vigilancia • Prevención</a:t>
            </a:r>
          </a:p>
          <a:p>
            <a:br/>
            <a:pPr algn="ctr">
              <a:defRPr sz="1400">
                <a:solidFill>
                  <a:srgbClr val="FFFFFF"/>
                </a:solidFill>
              </a:defRPr>
            </a:pPr>
            <a:r>
              <a:t>Alumna:</a:t>
            </a:r>
            <a:br/>
            <a:r>
              <a:t>Myriam Machado Arreola</a:t>
            </a:r>
          </a:p>
          <a:p>
            <a:br/>
            <a:pPr algn="ctr">
              <a:defRPr sz="1200">
                <a:solidFill>
                  <a:srgbClr val="FFC8C8"/>
                </a:solidFill>
              </a:defRPr>
            </a:pPr>
            <a:r>
              <a:t>Servicio de Enfermería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